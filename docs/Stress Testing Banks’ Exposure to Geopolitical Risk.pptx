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3" r:id="rId3"/>
    <p:sldId id="264" r:id="rId4"/>
    <p:sldId id="257" r:id="rId5"/>
    <p:sldId id="265" r:id="rId6"/>
    <p:sldId id="258" r:id="rId7"/>
    <p:sldId id="259" r:id="rId8"/>
    <p:sldId id="260" r:id="rId9"/>
    <p:sldId id="262" r:id="rId10"/>
  </p:sldIdLst>
  <p:sldSz cx="12192000" cy="6858000"/>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6E62"/>
    <a:srgbClr val="E1704B"/>
    <a:srgbClr val="74687B"/>
    <a:srgbClr val="8769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2" d="100"/>
          <a:sy n="102" d="100"/>
        </p:scale>
        <p:origin x="126" y="216"/>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EEDD2-9CFD-4798-9ACC-248ADC45D80D}" type="datetimeFigureOut">
              <a:rPr lang="en-150" smtClean="0"/>
              <a:t>12/01/2026</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6231B7-FD68-4C22-9E1A-86C87E12DC8D}" type="slidenum">
              <a:rPr lang="en-150" smtClean="0"/>
              <a:t>‹#›</a:t>
            </a:fld>
            <a:endParaRPr lang="en-150"/>
          </a:p>
        </p:txBody>
      </p:sp>
    </p:spTree>
    <p:extLst>
      <p:ext uri="{BB962C8B-B14F-4D97-AF65-F5344CB8AC3E}">
        <p14:creationId xmlns:p14="http://schemas.microsoft.com/office/powerpoint/2010/main" val="2266357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150" dirty="0"/>
          </a:p>
        </p:txBody>
      </p:sp>
      <p:sp>
        <p:nvSpPr>
          <p:cNvPr id="4" name="Slide Number Placeholder 3"/>
          <p:cNvSpPr>
            <a:spLocks noGrp="1"/>
          </p:cNvSpPr>
          <p:nvPr>
            <p:ph type="sldNum" sz="quarter" idx="5"/>
          </p:nvPr>
        </p:nvSpPr>
        <p:spPr/>
        <p:txBody>
          <a:bodyPr/>
          <a:lstStyle/>
          <a:p>
            <a:fld id="{6D6231B7-FD68-4C22-9E1A-86C87E12DC8D}" type="slidenum">
              <a:rPr lang="en-150" smtClean="0"/>
              <a:t>2</a:t>
            </a:fld>
            <a:endParaRPr lang="en-150"/>
          </a:p>
        </p:txBody>
      </p:sp>
    </p:spTree>
    <p:extLst>
      <p:ext uri="{BB962C8B-B14F-4D97-AF65-F5344CB8AC3E}">
        <p14:creationId xmlns:p14="http://schemas.microsoft.com/office/powerpoint/2010/main" val="242449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268E-9FFF-0BDA-C770-E675406BD4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150"/>
          </a:p>
        </p:txBody>
      </p:sp>
      <p:sp>
        <p:nvSpPr>
          <p:cNvPr id="3" name="Subtitle 2">
            <a:extLst>
              <a:ext uri="{FF2B5EF4-FFF2-40B4-BE49-F238E27FC236}">
                <a16:creationId xmlns:a16="http://schemas.microsoft.com/office/drawing/2014/main" id="{11B75C30-2A96-4CA5-1435-14306EAD23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150"/>
          </a:p>
        </p:txBody>
      </p:sp>
      <p:sp>
        <p:nvSpPr>
          <p:cNvPr id="4" name="Date Placeholder 3">
            <a:extLst>
              <a:ext uri="{FF2B5EF4-FFF2-40B4-BE49-F238E27FC236}">
                <a16:creationId xmlns:a16="http://schemas.microsoft.com/office/drawing/2014/main" id="{79CF6C20-8B90-0530-762B-2B4FEC921A50}"/>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E97D89DD-E1C5-F398-3D6F-E995570707EB}"/>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C115CD8F-56A8-DE17-FE0B-364614F26D40}"/>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475519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7A11-1DA5-1515-6FAF-B821A3555D8A}"/>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D4BFEBC9-7F70-8BB9-E7F5-441A97792D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415F6891-990D-6251-8F29-F97FCC8310B1}"/>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6DBEC926-F2CF-50BD-17EE-72C438ADD60F}"/>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A47351F0-2E83-1E74-DE26-EB45AC08AC39}"/>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205917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6FB43-59F1-D160-3E80-40AA69F219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150"/>
          </a:p>
        </p:txBody>
      </p:sp>
      <p:sp>
        <p:nvSpPr>
          <p:cNvPr id="3" name="Text Placeholder 2">
            <a:extLst>
              <a:ext uri="{FF2B5EF4-FFF2-40B4-BE49-F238E27FC236}">
                <a16:creationId xmlns:a16="http://schemas.microsoft.com/office/drawing/2014/main" id="{8B704D98-F08D-4459-A451-9605FDA5A9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497A21-CA40-CF4B-6404-CF2489C3A4D5}"/>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240880F5-2378-634A-71DC-1C69D77E587A}"/>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BDE02EB6-B8D2-2341-920D-42BC478D181E}"/>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326455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CF84-4F11-6285-D60C-2946818C8653}"/>
              </a:ext>
            </a:extLst>
          </p:cNvPr>
          <p:cNvSpPr>
            <a:spLocks noGrp="1"/>
          </p:cNvSpPr>
          <p:nvPr>
            <p:ph type="title"/>
          </p:nvPr>
        </p:nvSpPr>
        <p:spPr/>
        <p:txBody>
          <a:bodyPr/>
          <a:lstStyle/>
          <a:p>
            <a:r>
              <a:rPr lang="en-US"/>
              <a:t>Click to edit Master title style</a:t>
            </a:r>
            <a:endParaRPr lang="en-150"/>
          </a:p>
        </p:txBody>
      </p:sp>
      <p:sp>
        <p:nvSpPr>
          <p:cNvPr id="3" name="Content Placeholder 2">
            <a:extLst>
              <a:ext uri="{FF2B5EF4-FFF2-40B4-BE49-F238E27FC236}">
                <a16:creationId xmlns:a16="http://schemas.microsoft.com/office/drawing/2014/main" id="{F09F9BC1-9BF3-F6DD-FF1A-FF26733892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Content Placeholder 3">
            <a:extLst>
              <a:ext uri="{FF2B5EF4-FFF2-40B4-BE49-F238E27FC236}">
                <a16:creationId xmlns:a16="http://schemas.microsoft.com/office/drawing/2014/main" id="{F772A844-10D6-CC72-3DAB-1C7A3F1B86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Date Placeholder 4">
            <a:extLst>
              <a:ext uri="{FF2B5EF4-FFF2-40B4-BE49-F238E27FC236}">
                <a16:creationId xmlns:a16="http://schemas.microsoft.com/office/drawing/2014/main" id="{D363C676-8441-DB13-9D33-CC2D47E0CD14}"/>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6" name="Footer Placeholder 5">
            <a:extLst>
              <a:ext uri="{FF2B5EF4-FFF2-40B4-BE49-F238E27FC236}">
                <a16:creationId xmlns:a16="http://schemas.microsoft.com/office/drawing/2014/main" id="{4AA6A85F-0FE4-0F71-610B-DAFE95AF2BDE}"/>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991CFD22-F17A-A635-5ED2-3C216C40EA5A}"/>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133101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4A849-2D3C-9B60-94D3-4DA5B5435AF8}"/>
              </a:ext>
            </a:extLst>
          </p:cNvPr>
          <p:cNvSpPr>
            <a:spLocks noGrp="1"/>
          </p:cNvSpPr>
          <p:nvPr>
            <p:ph type="title"/>
          </p:nvPr>
        </p:nvSpPr>
        <p:spPr>
          <a:xfrm>
            <a:off x="839788" y="365125"/>
            <a:ext cx="10515600" cy="1325563"/>
          </a:xfrm>
        </p:spPr>
        <p:txBody>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030B9CB3-0296-2E96-D30A-4C67FCB36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73517-E628-EDA0-7F23-B45FDB4B91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5" name="Text Placeholder 4">
            <a:extLst>
              <a:ext uri="{FF2B5EF4-FFF2-40B4-BE49-F238E27FC236}">
                <a16:creationId xmlns:a16="http://schemas.microsoft.com/office/drawing/2014/main" id="{FA143899-C6C0-1422-904D-2E6739AC39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16DF53-DDB6-0D39-11DC-C80294886D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7" name="Date Placeholder 6">
            <a:extLst>
              <a:ext uri="{FF2B5EF4-FFF2-40B4-BE49-F238E27FC236}">
                <a16:creationId xmlns:a16="http://schemas.microsoft.com/office/drawing/2014/main" id="{4291EAA4-E9CB-790F-6EDC-E3D00A91A698}"/>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8" name="Footer Placeholder 7">
            <a:extLst>
              <a:ext uri="{FF2B5EF4-FFF2-40B4-BE49-F238E27FC236}">
                <a16:creationId xmlns:a16="http://schemas.microsoft.com/office/drawing/2014/main" id="{CE6C5D73-20A6-C9F4-0779-9A0903E21D88}"/>
              </a:ext>
            </a:extLst>
          </p:cNvPr>
          <p:cNvSpPr>
            <a:spLocks noGrp="1"/>
          </p:cNvSpPr>
          <p:nvPr>
            <p:ph type="ftr" sz="quarter" idx="11"/>
          </p:nvPr>
        </p:nvSpPr>
        <p:spPr/>
        <p:txBody>
          <a:bodyPr/>
          <a:lstStyle/>
          <a:p>
            <a:endParaRPr lang="en-150"/>
          </a:p>
        </p:txBody>
      </p:sp>
      <p:sp>
        <p:nvSpPr>
          <p:cNvPr id="9" name="Slide Number Placeholder 8">
            <a:extLst>
              <a:ext uri="{FF2B5EF4-FFF2-40B4-BE49-F238E27FC236}">
                <a16:creationId xmlns:a16="http://schemas.microsoft.com/office/drawing/2014/main" id="{FF0E6FE6-A586-4A14-353F-9EFB5F3DB29F}"/>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3531157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2619-3D80-31A9-23C4-95DCC7DD6F95}"/>
              </a:ext>
            </a:extLst>
          </p:cNvPr>
          <p:cNvSpPr>
            <a:spLocks noGrp="1"/>
          </p:cNvSpPr>
          <p:nvPr>
            <p:ph type="title"/>
          </p:nvPr>
        </p:nvSpPr>
        <p:spPr/>
        <p:txBody>
          <a:bodyPr/>
          <a:lstStyle/>
          <a:p>
            <a:r>
              <a:rPr lang="en-US"/>
              <a:t>Click to edit Master title style</a:t>
            </a:r>
            <a:endParaRPr lang="en-150"/>
          </a:p>
        </p:txBody>
      </p:sp>
      <p:sp>
        <p:nvSpPr>
          <p:cNvPr id="3" name="Date Placeholder 2">
            <a:extLst>
              <a:ext uri="{FF2B5EF4-FFF2-40B4-BE49-F238E27FC236}">
                <a16:creationId xmlns:a16="http://schemas.microsoft.com/office/drawing/2014/main" id="{2E26C0EA-BF63-B2B5-9E89-5DFCA92E4094}"/>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4" name="Footer Placeholder 3">
            <a:extLst>
              <a:ext uri="{FF2B5EF4-FFF2-40B4-BE49-F238E27FC236}">
                <a16:creationId xmlns:a16="http://schemas.microsoft.com/office/drawing/2014/main" id="{9EB8F365-77D9-17B7-84B8-B8D264E22D53}"/>
              </a:ext>
            </a:extLst>
          </p:cNvPr>
          <p:cNvSpPr>
            <a:spLocks noGrp="1"/>
          </p:cNvSpPr>
          <p:nvPr>
            <p:ph type="ftr" sz="quarter" idx="11"/>
          </p:nvPr>
        </p:nvSpPr>
        <p:spPr/>
        <p:txBody>
          <a:bodyPr/>
          <a:lstStyle/>
          <a:p>
            <a:endParaRPr lang="en-150"/>
          </a:p>
        </p:txBody>
      </p:sp>
      <p:sp>
        <p:nvSpPr>
          <p:cNvPr id="5" name="Slide Number Placeholder 4">
            <a:extLst>
              <a:ext uri="{FF2B5EF4-FFF2-40B4-BE49-F238E27FC236}">
                <a16:creationId xmlns:a16="http://schemas.microsoft.com/office/drawing/2014/main" id="{68062CF2-0EED-C891-2A76-E687694405E1}"/>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3553316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E36197-3A44-5C13-83E5-8D414F9D8768}"/>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3" name="Footer Placeholder 2">
            <a:extLst>
              <a:ext uri="{FF2B5EF4-FFF2-40B4-BE49-F238E27FC236}">
                <a16:creationId xmlns:a16="http://schemas.microsoft.com/office/drawing/2014/main" id="{C81092F5-258D-9BA6-C8CC-CFA6EDCAB3DA}"/>
              </a:ext>
            </a:extLst>
          </p:cNvPr>
          <p:cNvSpPr>
            <a:spLocks noGrp="1"/>
          </p:cNvSpPr>
          <p:nvPr>
            <p:ph type="ftr" sz="quarter" idx="11"/>
          </p:nvPr>
        </p:nvSpPr>
        <p:spPr/>
        <p:txBody>
          <a:bodyPr/>
          <a:lstStyle/>
          <a:p>
            <a:endParaRPr lang="en-150"/>
          </a:p>
        </p:txBody>
      </p:sp>
      <p:sp>
        <p:nvSpPr>
          <p:cNvPr id="4" name="Slide Number Placeholder 3">
            <a:extLst>
              <a:ext uri="{FF2B5EF4-FFF2-40B4-BE49-F238E27FC236}">
                <a16:creationId xmlns:a16="http://schemas.microsoft.com/office/drawing/2014/main" id="{86D61D7E-0632-382D-1FCF-AC35D389D79A}"/>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1663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33A7C-DBD3-93AC-7166-EAD5E5EB84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Content Placeholder 2">
            <a:extLst>
              <a:ext uri="{FF2B5EF4-FFF2-40B4-BE49-F238E27FC236}">
                <a16:creationId xmlns:a16="http://schemas.microsoft.com/office/drawing/2014/main" id="{AA36F841-D519-4B1D-59A9-1CE16D3FDA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Text Placeholder 3">
            <a:extLst>
              <a:ext uri="{FF2B5EF4-FFF2-40B4-BE49-F238E27FC236}">
                <a16:creationId xmlns:a16="http://schemas.microsoft.com/office/drawing/2014/main" id="{7A8DBC93-F9C7-03E0-63DA-1B92B8CFB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7798E-C568-D6A2-BC22-C7DC46F1A7EF}"/>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6" name="Footer Placeholder 5">
            <a:extLst>
              <a:ext uri="{FF2B5EF4-FFF2-40B4-BE49-F238E27FC236}">
                <a16:creationId xmlns:a16="http://schemas.microsoft.com/office/drawing/2014/main" id="{535752EC-5F60-4D24-F166-0077CEBCF501}"/>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B016BC10-6472-5A61-0D32-44DA12C7A36A}"/>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3328027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BC63-6BD7-5F86-45F1-65A9ACF4F3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150"/>
          </a:p>
        </p:txBody>
      </p:sp>
      <p:sp>
        <p:nvSpPr>
          <p:cNvPr id="3" name="Picture Placeholder 2">
            <a:extLst>
              <a:ext uri="{FF2B5EF4-FFF2-40B4-BE49-F238E27FC236}">
                <a16:creationId xmlns:a16="http://schemas.microsoft.com/office/drawing/2014/main" id="{FA4BC8BE-AB82-1123-9443-E8E517715F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150"/>
          </a:p>
        </p:txBody>
      </p:sp>
      <p:sp>
        <p:nvSpPr>
          <p:cNvPr id="4" name="Text Placeholder 3">
            <a:extLst>
              <a:ext uri="{FF2B5EF4-FFF2-40B4-BE49-F238E27FC236}">
                <a16:creationId xmlns:a16="http://schemas.microsoft.com/office/drawing/2014/main" id="{B3C47647-D09E-1DD2-DB1C-B581CC1EA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F8A622-190B-32EE-60DE-A255F813DB07}"/>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6" name="Footer Placeholder 5">
            <a:extLst>
              <a:ext uri="{FF2B5EF4-FFF2-40B4-BE49-F238E27FC236}">
                <a16:creationId xmlns:a16="http://schemas.microsoft.com/office/drawing/2014/main" id="{E4919EAB-2980-B091-84A7-BBD1CF15C60F}"/>
              </a:ext>
            </a:extLst>
          </p:cNvPr>
          <p:cNvSpPr>
            <a:spLocks noGrp="1"/>
          </p:cNvSpPr>
          <p:nvPr>
            <p:ph type="ftr" sz="quarter" idx="11"/>
          </p:nvPr>
        </p:nvSpPr>
        <p:spPr/>
        <p:txBody>
          <a:bodyPr/>
          <a:lstStyle/>
          <a:p>
            <a:endParaRPr lang="en-150"/>
          </a:p>
        </p:txBody>
      </p:sp>
      <p:sp>
        <p:nvSpPr>
          <p:cNvPr id="7" name="Slide Number Placeholder 6">
            <a:extLst>
              <a:ext uri="{FF2B5EF4-FFF2-40B4-BE49-F238E27FC236}">
                <a16:creationId xmlns:a16="http://schemas.microsoft.com/office/drawing/2014/main" id="{13D3A235-429E-57DB-8776-00D2A13B0CF7}"/>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2395938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89B8-637F-A556-8C71-E0E75D5226FD}"/>
              </a:ext>
            </a:extLst>
          </p:cNvPr>
          <p:cNvSpPr>
            <a:spLocks noGrp="1"/>
          </p:cNvSpPr>
          <p:nvPr>
            <p:ph type="title"/>
          </p:nvPr>
        </p:nvSpPr>
        <p:spPr/>
        <p:txBody>
          <a:bodyPr/>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14B3C1F5-8B79-8FC9-F4AB-ABF61790A8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175EB55B-82A4-3C20-32C4-CE59EEECEAA5}"/>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B422E7BE-96F5-73F7-914C-90AF2A033748}"/>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045CB15C-C9B2-7518-EF29-8E1FB9B28327}"/>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312177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D93122-7A3F-A36C-095A-1B5EEF1017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150"/>
          </a:p>
        </p:txBody>
      </p:sp>
      <p:sp>
        <p:nvSpPr>
          <p:cNvPr id="3" name="Vertical Text Placeholder 2">
            <a:extLst>
              <a:ext uri="{FF2B5EF4-FFF2-40B4-BE49-F238E27FC236}">
                <a16:creationId xmlns:a16="http://schemas.microsoft.com/office/drawing/2014/main" id="{E773EAA4-DF1A-41BF-D143-455F607706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6EBD304F-3AF0-6CCB-D157-8060574B71C7}"/>
              </a:ext>
            </a:extLst>
          </p:cNvPr>
          <p:cNvSpPr>
            <a:spLocks noGrp="1"/>
          </p:cNvSpPr>
          <p:nvPr>
            <p:ph type="dt" sz="half" idx="10"/>
          </p:nvPr>
        </p:nvSpPr>
        <p:spPr/>
        <p:txBody>
          <a:body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2DF61884-5463-28A6-9F6D-3E846EEC24CD}"/>
              </a:ext>
            </a:extLst>
          </p:cNvPr>
          <p:cNvSpPr>
            <a:spLocks noGrp="1"/>
          </p:cNvSpPr>
          <p:nvPr>
            <p:ph type="ftr" sz="quarter" idx="11"/>
          </p:nvPr>
        </p:nvSpPr>
        <p:spPr/>
        <p:txBody>
          <a:bodyPr/>
          <a:lstStyle/>
          <a:p>
            <a:endParaRPr lang="en-150"/>
          </a:p>
        </p:txBody>
      </p:sp>
      <p:sp>
        <p:nvSpPr>
          <p:cNvPr id="6" name="Slide Number Placeholder 5">
            <a:extLst>
              <a:ext uri="{FF2B5EF4-FFF2-40B4-BE49-F238E27FC236}">
                <a16:creationId xmlns:a16="http://schemas.microsoft.com/office/drawing/2014/main" id="{2EFE27B8-D6BB-1B78-8785-D140C2EAF9A2}"/>
              </a:ext>
            </a:extLst>
          </p:cNvPr>
          <p:cNvSpPr>
            <a:spLocks noGrp="1"/>
          </p:cNvSpPr>
          <p:nvPr>
            <p:ph type="sldNum" sz="quarter" idx="12"/>
          </p:nvPr>
        </p:nvSpPr>
        <p:spPr/>
        <p:txBody>
          <a:bodyPr/>
          <a:lstStyle/>
          <a:p>
            <a:fld id="{56ABB7E8-20EF-4A6A-B45F-28F342C654AA}" type="slidenum">
              <a:rPr lang="en-150" smtClean="0"/>
              <a:t>‹#›</a:t>
            </a:fld>
            <a:endParaRPr lang="en-150"/>
          </a:p>
        </p:txBody>
      </p:sp>
    </p:spTree>
    <p:extLst>
      <p:ext uri="{BB962C8B-B14F-4D97-AF65-F5344CB8AC3E}">
        <p14:creationId xmlns:p14="http://schemas.microsoft.com/office/powerpoint/2010/main" val="122218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EFD7C2-210C-4F60-00ED-55CAB38827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150"/>
          </a:p>
        </p:txBody>
      </p:sp>
      <p:sp>
        <p:nvSpPr>
          <p:cNvPr id="3" name="Text Placeholder 2">
            <a:extLst>
              <a:ext uri="{FF2B5EF4-FFF2-40B4-BE49-F238E27FC236}">
                <a16:creationId xmlns:a16="http://schemas.microsoft.com/office/drawing/2014/main" id="{265D20D6-423D-28B1-E470-37D824223A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4" name="Date Placeholder 3">
            <a:extLst>
              <a:ext uri="{FF2B5EF4-FFF2-40B4-BE49-F238E27FC236}">
                <a16:creationId xmlns:a16="http://schemas.microsoft.com/office/drawing/2014/main" id="{9500E091-20E4-AFF6-529D-37C55F893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4E1BE7-7FBD-4058-AB1A-127167C137CE}" type="datetimeFigureOut">
              <a:rPr lang="en-150" smtClean="0"/>
              <a:t>12/01/2026</a:t>
            </a:fld>
            <a:endParaRPr lang="en-150"/>
          </a:p>
        </p:txBody>
      </p:sp>
      <p:sp>
        <p:nvSpPr>
          <p:cNvPr id="5" name="Footer Placeholder 4">
            <a:extLst>
              <a:ext uri="{FF2B5EF4-FFF2-40B4-BE49-F238E27FC236}">
                <a16:creationId xmlns:a16="http://schemas.microsoft.com/office/drawing/2014/main" id="{5C9BEE8E-1BD3-B23D-14F6-3E324DDC1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150"/>
          </a:p>
        </p:txBody>
      </p:sp>
      <p:sp>
        <p:nvSpPr>
          <p:cNvPr id="6" name="Slide Number Placeholder 5">
            <a:extLst>
              <a:ext uri="{FF2B5EF4-FFF2-40B4-BE49-F238E27FC236}">
                <a16:creationId xmlns:a16="http://schemas.microsoft.com/office/drawing/2014/main" id="{E0B54966-453D-6366-412A-0F7C5E50DF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ABB7E8-20EF-4A6A-B45F-28F342C654AA}" type="slidenum">
              <a:rPr lang="en-150" smtClean="0"/>
              <a:t>‹#›</a:t>
            </a:fld>
            <a:endParaRPr lang="en-150"/>
          </a:p>
        </p:txBody>
      </p:sp>
    </p:spTree>
    <p:extLst>
      <p:ext uri="{BB962C8B-B14F-4D97-AF65-F5344CB8AC3E}">
        <p14:creationId xmlns:p14="http://schemas.microsoft.com/office/powerpoint/2010/main" val="3151070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media/image2.png"/><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016CC49-B6E7-6254-F386-7E2B8E784DAB}"/>
              </a:ext>
            </a:extLst>
          </p:cNvPr>
          <p:cNvSpPr>
            <a:spLocks noGrp="1"/>
          </p:cNvSpPr>
          <p:nvPr>
            <p:ph type="ctrTitle"/>
          </p:nvPr>
        </p:nvSpPr>
        <p:spPr>
          <a:xfrm>
            <a:off x="3880430" y="583345"/>
            <a:ext cx="7160357" cy="4164820"/>
          </a:xfrm>
        </p:spPr>
        <p:txBody>
          <a:bodyPr anchor="t">
            <a:normAutofit/>
          </a:bodyPr>
          <a:lstStyle/>
          <a:p>
            <a:pPr algn="r"/>
            <a:r>
              <a:rPr lang="en-GB" sz="7400" dirty="0">
                <a:solidFill>
                  <a:srgbClr val="FFFFFF"/>
                </a:solidFill>
              </a:rPr>
              <a:t>Stress Testing Banks’ Exposure to Geopolitical Risk</a:t>
            </a:r>
            <a:endParaRPr lang="en-150" sz="7400" dirty="0">
              <a:solidFill>
                <a:srgbClr val="FFFFFF"/>
              </a:solidFill>
            </a:endParaRPr>
          </a:p>
        </p:txBody>
      </p:sp>
      <p:sp>
        <p:nvSpPr>
          <p:cNvPr id="3" name="Subtitle 2">
            <a:extLst>
              <a:ext uri="{FF2B5EF4-FFF2-40B4-BE49-F238E27FC236}">
                <a16:creationId xmlns:a16="http://schemas.microsoft.com/office/drawing/2014/main" id="{73362AA6-8E3F-1EA7-1C3E-658887440281}"/>
              </a:ext>
            </a:extLst>
          </p:cNvPr>
          <p:cNvSpPr>
            <a:spLocks noGrp="1"/>
          </p:cNvSpPr>
          <p:nvPr>
            <p:ph type="subTitle" idx="1"/>
          </p:nvPr>
        </p:nvSpPr>
        <p:spPr>
          <a:xfrm>
            <a:off x="1208228" y="5972174"/>
            <a:ext cx="8578699" cy="504825"/>
          </a:xfrm>
        </p:spPr>
        <p:txBody>
          <a:bodyPr>
            <a:normAutofit/>
          </a:bodyPr>
          <a:lstStyle/>
          <a:p>
            <a:pPr algn="l"/>
            <a:r>
              <a:rPr lang="en-GB" sz="1000">
                <a:solidFill>
                  <a:srgbClr val="FFFFFF"/>
                </a:solidFill>
              </a:rPr>
              <a:t>Hamza Ghoussy (2763379), Corentin Lepla (2898108),</a:t>
            </a:r>
          </a:p>
          <a:p>
            <a:pPr algn="l"/>
            <a:r>
              <a:rPr lang="en-US" sz="1000">
                <a:solidFill>
                  <a:srgbClr val="FFFFFF"/>
                </a:solidFill>
              </a:rPr>
              <a:t>Shubham Vijay Nanewar (2891203), Andreas Koulopoulos (2897428)</a:t>
            </a:r>
            <a:endParaRPr lang="en-150" sz="1000">
              <a:solidFill>
                <a:srgbClr val="FFFFFF"/>
              </a:solidFill>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948267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72B10E2-5D47-A6C2-2BCA-0884864A9FD3}"/>
              </a:ext>
            </a:extLst>
          </p:cNvPr>
          <p:cNvSpPr>
            <a:spLocks noGrp="1"/>
          </p:cNvSpPr>
          <p:nvPr>
            <p:ph type="title"/>
          </p:nvPr>
        </p:nvSpPr>
        <p:spPr>
          <a:xfrm>
            <a:off x="0" y="0"/>
            <a:ext cx="10515600" cy="1325563"/>
          </a:xfrm>
        </p:spPr>
        <p:txBody>
          <a:bodyPr/>
          <a:lstStyle/>
          <a:p>
            <a:r>
              <a:rPr lang="en-US" dirty="0">
                <a:solidFill>
                  <a:schemeClr val="bg1"/>
                </a:solidFill>
              </a:rPr>
              <a:t>Motivation</a:t>
            </a:r>
            <a:endParaRPr lang="en-150" dirty="0">
              <a:solidFill>
                <a:schemeClr val="bg1"/>
              </a:solidFill>
            </a:endParaRPr>
          </a:p>
        </p:txBody>
      </p:sp>
      <mc:AlternateContent xmlns:mc="http://schemas.openxmlformats.org/markup-compatibility/2006">
        <mc:Choice xmlns:pslz="http://schemas.microsoft.com/office/powerpoint/2016/slidezoom" Requires="pslz">
          <p:graphicFrame>
            <p:nvGraphicFramePr>
              <p:cNvPr id="17" name="Slide Zoom 16">
                <a:extLst>
                  <a:ext uri="{FF2B5EF4-FFF2-40B4-BE49-F238E27FC236}">
                    <a16:creationId xmlns:a16="http://schemas.microsoft.com/office/drawing/2014/main" id="{F24522C3-7421-EC64-2C04-59713ABEE45A}"/>
                  </a:ext>
                </a:extLst>
              </p:cNvPr>
              <p:cNvGraphicFramePr>
                <a:graphicFrameLocks noChangeAspect="1"/>
              </p:cNvGraphicFramePr>
              <p:nvPr>
                <p:extLst>
                  <p:ext uri="{D42A27DB-BD31-4B8C-83A1-F6EECF244321}">
                    <p14:modId xmlns:p14="http://schemas.microsoft.com/office/powerpoint/2010/main" val="4286361532"/>
                  </p:ext>
                </p:extLst>
              </p:nvPr>
            </p:nvGraphicFramePr>
            <p:xfrm>
              <a:off x="8229802" y="737524"/>
              <a:ext cx="3129914" cy="1760577"/>
            </p:xfrm>
            <a:graphic>
              <a:graphicData uri="http://schemas.microsoft.com/office/powerpoint/2016/slidezoom">
                <pslz:sldZm>
                  <pslz:sldZmObj sldId="264" cId="1783758419">
                    <pslz:zmPr id="{D60FED06-D085-42E1-AFCB-50987CE45EAE}" transitionDur="1000">
                      <p166:blipFill xmlns:p166="http://schemas.microsoft.com/office/powerpoint/2016/6/main">
                        <a:blip r:embed="rId3"/>
                        <a:stretch>
                          <a:fillRect/>
                        </a:stretch>
                      </p166:blipFill>
                      <p166:spPr xmlns:p166="http://schemas.microsoft.com/office/powerpoint/2016/6/main">
                        <a:xfrm>
                          <a:off x="0" y="0"/>
                          <a:ext cx="3129914" cy="1760577"/>
                        </a:xfrm>
                        <a:prstGeom prst="rect">
                          <a:avLst/>
                        </a:prstGeom>
                        <a:noFill/>
                        <a:ln w="3175">
                          <a:solidFill>
                            <a:schemeClr val="bg1"/>
                          </a:solidFill>
                        </a:ln>
                      </p166:spPr>
                    </pslz:zmPr>
                  </pslz:sldZmObj>
                </pslz:sldZm>
              </a:graphicData>
            </a:graphic>
          </p:graphicFrame>
        </mc:Choice>
        <mc:Fallback>
          <p:pic>
            <p:nvPicPr>
              <p:cNvPr id="17" name="Slide Zoom 16">
                <a:hlinkClick r:id="rId4" action="ppaction://hlinksldjump"/>
                <a:extLst>
                  <a:ext uri="{FF2B5EF4-FFF2-40B4-BE49-F238E27FC236}">
                    <a16:creationId xmlns:a16="http://schemas.microsoft.com/office/drawing/2014/main" id="{F24522C3-7421-EC64-2C04-59713ABEE45A}"/>
                  </a:ext>
                </a:extLst>
              </p:cNvPr>
              <p:cNvPicPr>
                <a:picLocks noGrp="1" noRot="1" noChangeAspect="1" noMove="1" noResize="1" noEditPoints="1" noAdjustHandles="1" noChangeArrowheads="1" noChangeShapeType="1"/>
              </p:cNvPicPr>
              <p:nvPr/>
            </p:nvPicPr>
            <p:blipFill>
              <a:blip r:embed="rId3"/>
              <a:stretch>
                <a:fillRect/>
              </a:stretch>
            </p:blipFill>
            <p:spPr>
              <a:xfrm>
                <a:off x="8229802" y="737524"/>
                <a:ext cx="3129914" cy="1760577"/>
              </a:xfrm>
              <a:prstGeom prst="rect">
                <a:avLst/>
              </a:prstGeom>
              <a:noFill/>
              <a:ln w="3175">
                <a:solidFill>
                  <a:schemeClr val="bg1"/>
                </a:solidFill>
              </a:ln>
            </p:spPr>
          </p:pic>
        </mc:Fallback>
      </mc:AlternateContent>
      <mc:AlternateContent xmlns:mc="http://schemas.openxmlformats.org/markup-compatibility/2006">
        <mc:Choice xmlns:pslz="http://schemas.microsoft.com/office/powerpoint/2016/slidezoom" Requires="pslz">
          <p:graphicFrame>
            <p:nvGraphicFramePr>
              <p:cNvPr id="19" name="Slide Zoom 18">
                <a:extLst>
                  <a:ext uri="{FF2B5EF4-FFF2-40B4-BE49-F238E27FC236}">
                    <a16:creationId xmlns:a16="http://schemas.microsoft.com/office/drawing/2014/main" id="{601BBC4B-B1AF-F67C-9937-223A172CF6E7}"/>
                  </a:ext>
                </a:extLst>
              </p:cNvPr>
              <p:cNvGraphicFramePr>
                <a:graphicFrameLocks noChangeAspect="1"/>
              </p:cNvGraphicFramePr>
              <p:nvPr>
                <p:extLst>
                  <p:ext uri="{D42A27DB-BD31-4B8C-83A1-F6EECF244321}">
                    <p14:modId xmlns:p14="http://schemas.microsoft.com/office/powerpoint/2010/main" val="858229794"/>
                  </p:ext>
                </p:extLst>
              </p:nvPr>
            </p:nvGraphicFramePr>
            <p:xfrm>
              <a:off x="438809" y="2909921"/>
              <a:ext cx="3249689" cy="1737494"/>
            </p:xfrm>
            <a:graphic>
              <a:graphicData uri="http://schemas.microsoft.com/office/powerpoint/2016/slidezoom">
                <pslz:sldZm>
                  <pslz:sldZmObj sldId="257" cId="3159203526">
                    <pslz:zmPr id="{317138D0-A8DA-495A-9A38-14E766382DCC}" transitionDur="1000">
                      <p166:blipFill xmlns:p166="http://schemas.microsoft.com/office/powerpoint/2016/6/main">
                        <a:blip r:embed="rId5"/>
                        <a:stretch>
                          <a:fillRect/>
                        </a:stretch>
                      </p166:blipFill>
                      <p166:spPr xmlns:p166="http://schemas.microsoft.com/office/powerpoint/2016/6/main">
                        <a:xfrm>
                          <a:off x="0" y="0"/>
                          <a:ext cx="3249689" cy="1737494"/>
                        </a:xfrm>
                        <a:prstGeom prst="rect">
                          <a:avLst/>
                        </a:prstGeom>
                        <a:ln w="3175">
                          <a:solidFill>
                            <a:prstClr val="ltGray"/>
                          </a:solidFill>
                        </a:ln>
                      </p166:spPr>
                    </pslz:zmPr>
                  </pslz:sldZmObj>
                </pslz:sldZm>
              </a:graphicData>
            </a:graphic>
          </p:graphicFrame>
        </mc:Choice>
        <mc:Fallback>
          <p:pic>
            <p:nvPicPr>
              <p:cNvPr id="19" name="Slide Zoom 18">
                <a:hlinkClick r:id="rId6" action="ppaction://hlinksldjump"/>
                <a:extLst>
                  <a:ext uri="{FF2B5EF4-FFF2-40B4-BE49-F238E27FC236}">
                    <a16:creationId xmlns:a16="http://schemas.microsoft.com/office/drawing/2014/main" id="{601BBC4B-B1AF-F67C-9937-223A172CF6E7}"/>
                  </a:ext>
                </a:extLst>
              </p:cNvPr>
              <p:cNvPicPr>
                <a:picLocks noGrp="1" noRot="1" noChangeAspect="1" noMove="1" noResize="1" noEditPoints="1" noAdjustHandles="1" noChangeArrowheads="1" noChangeShapeType="1"/>
              </p:cNvPicPr>
              <p:nvPr/>
            </p:nvPicPr>
            <p:blipFill>
              <a:blip r:embed="rId5"/>
              <a:stretch>
                <a:fillRect/>
              </a:stretch>
            </p:blipFill>
            <p:spPr>
              <a:xfrm>
                <a:off x="438809" y="2909921"/>
                <a:ext cx="3249689" cy="1737494"/>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21" name="Slide Zoom 20">
                <a:extLst>
                  <a:ext uri="{FF2B5EF4-FFF2-40B4-BE49-F238E27FC236}">
                    <a16:creationId xmlns:a16="http://schemas.microsoft.com/office/drawing/2014/main" id="{2FCB1AE5-2F4A-99F1-91E2-B3E1D085B2C1}"/>
                  </a:ext>
                </a:extLst>
              </p:cNvPr>
              <p:cNvGraphicFramePr>
                <a:graphicFrameLocks noChangeAspect="1"/>
              </p:cNvGraphicFramePr>
              <p:nvPr>
                <p:extLst>
                  <p:ext uri="{D42A27DB-BD31-4B8C-83A1-F6EECF244321}">
                    <p14:modId xmlns:p14="http://schemas.microsoft.com/office/powerpoint/2010/main" val="647280033"/>
                  </p:ext>
                </p:extLst>
              </p:nvPr>
            </p:nvGraphicFramePr>
            <p:xfrm>
              <a:off x="8356862" y="4933582"/>
              <a:ext cx="3002854" cy="1608620"/>
            </p:xfrm>
            <a:graphic>
              <a:graphicData uri="http://schemas.microsoft.com/office/powerpoint/2016/slidezoom">
                <pslz:sldZm>
                  <pslz:sldZmObj sldId="265" cId="1116268655">
                    <pslz:zmPr id="{BE6FFA25-6A6C-4B30-A348-0702E48C73A0}" transitionDur="1000">
                      <p166:blipFill xmlns:p166="http://schemas.microsoft.com/office/powerpoint/2016/6/main">
                        <a:blip r:embed="rId7"/>
                        <a:stretch>
                          <a:fillRect/>
                        </a:stretch>
                      </p166:blipFill>
                      <p166:spPr xmlns:p166="http://schemas.microsoft.com/office/powerpoint/2016/6/main">
                        <a:xfrm>
                          <a:off x="0" y="0"/>
                          <a:ext cx="3002854" cy="1608620"/>
                        </a:xfrm>
                        <a:prstGeom prst="rect">
                          <a:avLst/>
                        </a:prstGeom>
                        <a:ln w="3175">
                          <a:solidFill>
                            <a:prstClr val="ltGray"/>
                          </a:solidFill>
                        </a:ln>
                      </p166:spPr>
                    </pslz:zmPr>
                  </pslz:sldZmObj>
                </pslz:sldZm>
              </a:graphicData>
            </a:graphic>
          </p:graphicFrame>
        </mc:Choice>
        <mc:Fallback>
          <p:pic>
            <p:nvPicPr>
              <p:cNvPr id="21" name="Slide Zoom 20">
                <a:hlinkClick r:id="rId8" action="ppaction://hlinksldjump"/>
                <a:extLst>
                  <a:ext uri="{FF2B5EF4-FFF2-40B4-BE49-F238E27FC236}">
                    <a16:creationId xmlns:a16="http://schemas.microsoft.com/office/drawing/2014/main" id="{2FCB1AE5-2F4A-99F1-91E2-B3E1D085B2C1}"/>
                  </a:ext>
                </a:extLst>
              </p:cNvPr>
              <p:cNvPicPr>
                <a:picLocks noGrp="1" noRot="1" noChangeAspect="1" noMove="1" noResize="1" noEditPoints="1" noAdjustHandles="1" noChangeArrowheads="1" noChangeShapeType="1"/>
              </p:cNvPicPr>
              <p:nvPr/>
            </p:nvPicPr>
            <p:blipFill>
              <a:blip r:embed="rId7"/>
              <a:stretch>
                <a:fillRect/>
              </a:stretch>
            </p:blipFill>
            <p:spPr>
              <a:xfrm>
                <a:off x="8356862" y="4933582"/>
                <a:ext cx="3002854" cy="1608620"/>
              </a:xfrm>
              <a:prstGeom prst="rect">
                <a:avLst/>
              </a:prstGeom>
              <a:ln w="3175">
                <a:solidFill>
                  <a:prstClr val="ltGray"/>
                </a:solidFill>
              </a:ln>
            </p:spPr>
          </p:pic>
        </mc:Fallback>
      </mc:AlternateContent>
      <p:sp>
        <p:nvSpPr>
          <p:cNvPr id="23" name="Freeform: Shape 22">
            <a:extLst>
              <a:ext uri="{FF2B5EF4-FFF2-40B4-BE49-F238E27FC236}">
                <a16:creationId xmlns:a16="http://schemas.microsoft.com/office/drawing/2014/main" id="{3BB942BF-A725-1B4E-BC0E-1D8654DF8AC4}"/>
              </a:ext>
            </a:extLst>
          </p:cNvPr>
          <p:cNvSpPr/>
          <p:nvPr/>
        </p:nvSpPr>
        <p:spPr>
          <a:xfrm>
            <a:off x="3450916" y="1055802"/>
            <a:ext cx="5290167" cy="5590095"/>
          </a:xfrm>
          <a:custGeom>
            <a:avLst/>
            <a:gdLst>
              <a:gd name="connsiteX0" fmla="*/ 4805053 w 5290167"/>
              <a:gd name="connsiteY0" fmla="*/ 0 h 5590095"/>
              <a:gd name="connsiteX1" fmla="*/ 553564 w 5290167"/>
              <a:gd name="connsiteY1" fmla="*/ 2130458 h 5590095"/>
              <a:gd name="connsiteX2" fmla="*/ 515857 w 5290167"/>
              <a:gd name="connsiteY2" fmla="*/ 2988297 h 5590095"/>
              <a:gd name="connsiteX3" fmla="*/ 4814480 w 5290167"/>
              <a:gd name="connsiteY3" fmla="*/ 4364610 h 5590095"/>
              <a:gd name="connsiteX4" fmla="*/ 4748492 w 5290167"/>
              <a:gd name="connsiteY4" fmla="*/ 5062194 h 5590095"/>
              <a:gd name="connsiteX5" fmla="*/ 949490 w 5290167"/>
              <a:gd name="connsiteY5" fmla="*/ 5590095 h 559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0167" h="5590095">
                <a:moveTo>
                  <a:pt x="4805053" y="0"/>
                </a:moveTo>
                <a:cubicBezTo>
                  <a:pt x="3036741" y="816204"/>
                  <a:pt x="1268430" y="1632409"/>
                  <a:pt x="553564" y="2130458"/>
                </a:cubicBezTo>
                <a:cubicBezTo>
                  <a:pt x="-161302" y="2628508"/>
                  <a:pt x="-194296" y="2615938"/>
                  <a:pt x="515857" y="2988297"/>
                </a:cubicBezTo>
                <a:cubicBezTo>
                  <a:pt x="1226010" y="3360656"/>
                  <a:pt x="4109041" y="4018961"/>
                  <a:pt x="4814480" y="4364610"/>
                </a:cubicBezTo>
                <a:cubicBezTo>
                  <a:pt x="5519919" y="4710259"/>
                  <a:pt x="5392657" y="4857947"/>
                  <a:pt x="4748492" y="5062194"/>
                </a:cubicBezTo>
                <a:cubicBezTo>
                  <a:pt x="4104327" y="5266441"/>
                  <a:pt x="1662785" y="5491114"/>
                  <a:pt x="949490" y="5590095"/>
                </a:cubicBezTo>
              </a:path>
            </a:pathLst>
          </a:custGeom>
          <a:solidFill>
            <a:schemeClr val="accent1"/>
          </a:solidFill>
          <a:ln w="152400">
            <a:solidFill>
              <a:srgbClr val="C66E62"/>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150"/>
          </a:p>
        </p:txBody>
      </p:sp>
    </p:spTree>
    <p:extLst>
      <p:ext uri="{BB962C8B-B14F-4D97-AF65-F5344CB8AC3E}">
        <p14:creationId xmlns:p14="http://schemas.microsoft.com/office/powerpoint/2010/main" val="1328917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5BA2CEF-8B0A-04C6-C9C6-5A04784D6A15}"/>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7400" kern="1200">
                <a:solidFill>
                  <a:srgbClr val="FFFFFF"/>
                </a:solidFill>
                <a:latin typeface="+mj-lt"/>
                <a:ea typeface="+mj-ea"/>
                <a:cs typeface="+mj-cs"/>
              </a:rPr>
              <a:t>Social Welfare and Systemic fragility</a:t>
            </a:r>
            <a:br>
              <a:rPr lang="en-US" sz="7400" kern="1200">
                <a:solidFill>
                  <a:srgbClr val="FFFFFF"/>
                </a:solidFill>
                <a:latin typeface="+mj-lt"/>
                <a:ea typeface="+mj-ea"/>
                <a:cs typeface="+mj-cs"/>
              </a:rPr>
            </a:br>
            <a:endParaRPr lang="en-US" sz="7400" kern="1200">
              <a:solidFill>
                <a:srgbClr val="FFFFFF"/>
              </a:solidFill>
              <a:latin typeface="+mj-lt"/>
              <a:ea typeface="+mj-ea"/>
              <a:cs typeface="+mj-cs"/>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783758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Title 8">
            <a:extLst>
              <a:ext uri="{FF2B5EF4-FFF2-40B4-BE49-F238E27FC236}">
                <a16:creationId xmlns:a16="http://schemas.microsoft.com/office/drawing/2014/main" id="{CA9EBE0A-CE93-443A-3ABD-FCCF7E42256F}"/>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5000" kern="1200" dirty="0">
                <a:solidFill>
                  <a:srgbClr val="FFFFFF"/>
                </a:solidFill>
                <a:latin typeface="+mj-lt"/>
                <a:ea typeface="+mj-ea"/>
                <a:cs typeface="+mj-cs"/>
              </a:rPr>
              <a:t>Three mega risks : climate change, information technologies, geopolitical risk</a:t>
            </a:r>
            <a:br>
              <a:rPr lang="en-US" sz="5000" kern="1200" dirty="0">
                <a:solidFill>
                  <a:srgbClr val="FFFFFF"/>
                </a:solidFill>
                <a:latin typeface="+mj-lt"/>
                <a:ea typeface="+mj-ea"/>
                <a:cs typeface="+mj-cs"/>
              </a:rPr>
            </a:br>
            <a:endParaRPr lang="en-US" sz="5000" kern="1200" dirty="0">
              <a:solidFill>
                <a:srgbClr val="FFFFFF"/>
              </a:solidFill>
              <a:latin typeface="+mj-lt"/>
              <a:ea typeface="+mj-ea"/>
              <a:cs typeface="+mj-cs"/>
            </a:endParaRPr>
          </a:p>
        </p:txBody>
      </p:sp>
      <p:sp>
        <p:nvSpPr>
          <p:cNvPr id="1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2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22" name="Straight Connector 2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4"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159203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90A9AEB-2CC5-4736-3A17-79DEC27456CD}"/>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br>
              <a:rPr lang="en-US" sz="6200" kern="1200">
                <a:solidFill>
                  <a:srgbClr val="FFFFFF"/>
                </a:solidFill>
                <a:latin typeface="+mj-lt"/>
                <a:ea typeface="+mj-ea"/>
                <a:cs typeface="+mj-cs"/>
              </a:rPr>
            </a:br>
            <a:br>
              <a:rPr lang="en-US" sz="6200" kern="1200">
                <a:solidFill>
                  <a:srgbClr val="FFFFFF"/>
                </a:solidFill>
                <a:latin typeface="+mj-lt"/>
                <a:ea typeface="+mj-ea"/>
                <a:cs typeface="+mj-cs"/>
              </a:rPr>
            </a:br>
            <a:r>
              <a:rPr lang="en-US" sz="6200" kern="1200">
                <a:solidFill>
                  <a:srgbClr val="FFFFFF"/>
                </a:solidFill>
                <a:latin typeface="+mj-lt"/>
                <a:ea typeface="+mj-ea"/>
                <a:cs typeface="+mj-cs"/>
              </a:rPr>
              <a:t>Sovereign bank nexus</a:t>
            </a:r>
            <a:br>
              <a:rPr lang="en-US" sz="6200" kern="1200">
                <a:solidFill>
                  <a:srgbClr val="FFFFFF"/>
                </a:solidFill>
                <a:latin typeface="+mj-lt"/>
                <a:ea typeface="+mj-ea"/>
                <a:cs typeface="+mj-cs"/>
              </a:rPr>
            </a:br>
            <a:endParaRPr lang="en-US" sz="6200" kern="1200">
              <a:solidFill>
                <a:srgbClr val="FFFFFF"/>
              </a:solidFill>
              <a:latin typeface="+mj-lt"/>
              <a:ea typeface="+mj-ea"/>
              <a:cs typeface="+mj-cs"/>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116268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F94237-0536-4DB1-8C95-39E355CED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descr="Books stacked on a table">
            <a:extLst>
              <a:ext uri="{FF2B5EF4-FFF2-40B4-BE49-F238E27FC236}">
                <a16:creationId xmlns:a16="http://schemas.microsoft.com/office/drawing/2014/main" id="{8796DE73-23AE-1413-D549-428A907B224A}"/>
              </a:ext>
            </a:extLst>
          </p:cNvPr>
          <p:cNvPicPr>
            <a:picLocks noChangeAspect="1"/>
          </p:cNvPicPr>
          <p:nvPr/>
        </p:nvPicPr>
        <p:blipFill>
          <a:blip r:embed="rId2">
            <a:duotone>
              <a:schemeClr val="accent1">
                <a:shade val="45000"/>
                <a:satMod val="135000"/>
              </a:schemeClr>
              <a:prstClr val="white"/>
            </a:duotone>
            <a:alphaModFix amt="35000"/>
          </a:blip>
          <a:srcRect t="15730"/>
          <a:stretch>
            <a:fillRect/>
          </a:stretch>
        </p:blipFill>
        <p:spPr>
          <a:xfrm>
            <a:off x="20" y="10"/>
            <a:ext cx="12191981" cy="6857989"/>
          </a:xfrm>
          <a:prstGeom prst="rect">
            <a:avLst/>
          </a:prstGeom>
        </p:spPr>
      </p:pic>
      <p:sp>
        <p:nvSpPr>
          <p:cNvPr id="2" name="Title 1">
            <a:extLst>
              <a:ext uri="{FF2B5EF4-FFF2-40B4-BE49-F238E27FC236}">
                <a16:creationId xmlns:a16="http://schemas.microsoft.com/office/drawing/2014/main" id="{407DAD7B-17F4-98BB-2E59-479AAA65385E}"/>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b="1">
                <a:solidFill>
                  <a:srgbClr val="FFFFFF"/>
                </a:solidFill>
              </a:rPr>
              <a:t>Literature Gap</a:t>
            </a:r>
            <a:endParaRPr lang="en-US" sz="8000">
              <a:solidFill>
                <a:srgbClr val="FFFFFF"/>
              </a:solidFill>
            </a:endParaRPr>
          </a:p>
        </p:txBody>
      </p:sp>
      <p:sp>
        <p:nvSpPr>
          <p:cNvPr id="13"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7"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9" name="Straight Connector 1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21"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C7A7C20-3583-F7D5-2504-25D5501F6C1F}"/>
              </a:ext>
            </a:extLst>
          </p:cNvPr>
          <p:cNvSpPr txBox="1"/>
          <p:nvPr/>
        </p:nvSpPr>
        <p:spPr>
          <a:xfrm>
            <a:off x="1477108" y="2170444"/>
            <a:ext cx="8410469" cy="1200329"/>
          </a:xfrm>
          <a:prstGeom prst="rect">
            <a:avLst/>
          </a:prstGeom>
          <a:noFill/>
        </p:spPr>
        <p:txBody>
          <a:bodyPr wrap="square" rtlCol="0">
            <a:spAutoFit/>
          </a:bodyPr>
          <a:lstStyle/>
          <a:p>
            <a:pPr marL="285750" indent="-285750">
              <a:buFont typeface="Arial" panose="020B0604020202020204" pitchFamily="34" charset="0"/>
              <a:buChar char="•"/>
            </a:pPr>
            <a:r>
              <a:rPr lang="en-GB" dirty="0"/>
              <a:t>The Evolution of Stress Testing: From SRISK to Geo-</a:t>
            </a:r>
            <a:r>
              <a:rPr lang="en-US" dirty="0"/>
              <a:t>RISK</a:t>
            </a:r>
          </a:p>
          <a:p>
            <a:pPr marL="285750" indent="-285750">
              <a:buFont typeface="Arial" panose="020B0604020202020204" pitchFamily="34" charset="0"/>
              <a:buChar char="•"/>
            </a:pPr>
            <a:r>
              <a:rPr lang="en-US" dirty="0"/>
              <a:t>Long short mimicking portfolio as a more representative stress testing tool</a:t>
            </a:r>
          </a:p>
          <a:p>
            <a:pPr marL="285750" indent="-285750">
              <a:buFont typeface="Arial" panose="020B0604020202020204" pitchFamily="34" charset="0"/>
              <a:buChar char="•"/>
            </a:pPr>
            <a:r>
              <a:rPr lang="en-US" dirty="0"/>
              <a:t>Quantile regression vs OLS</a:t>
            </a:r>
            <a:endParaRPr lang="en-150" dirty="0"/>
          </a:p>
          <a:p>
            <a:endParaRPr lang="en-150" dirty="0"/>
          </a:p>
        </p:txBody>
      </p:sp>
    </p:spTree>
    <p:extLst>
      <p:ext uri="{BB962C8B-B14F-4D97-AF65-F5344CB8AC3E}">
        <p14:creationId xmlns:p14="http://schemas.microsoft.com/office/powerpoint/2010/main" val="1692684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390152C-D39A-6991-3329-AE13303F4E43}"/>
              </a:ext>
            </a:extLst>
          </p:cNvPr>
          <p:cNvSpPr>
            <a:spLocks noGrp="1"/>
          </p:cNvSpPr>
          <p:nvPr>
            <p:ph type="title"/>
          </p:nvPr>
        </p:nvSpPr>
        <p:spPr>
          <a:xfrm>
            <a:off x="1188069" y="381935"/>
            <a:ext cx="4008583" cy="5974414"/>
          </a:xfrm>
        </p:spPr>
        <p:txBody>
          <a:bodyPr anchor="ctr">
            <a:normAutofit/>
          </a:bodyPr>
          <a:lstStyle/>
          <a:p>
            <a:r>
              <a:rPr lang="en-US" sz="5600" dirty="0">
                <a:solidFill>
                  <a:srgbClr val="FFFFFF"/>
                </a:solidFill>
              </a:rPr>
              <a:t>Methodology &amp; Data</a:t>
            </a:r>
            <a:endParaRPr lang="en-150" sz="5600" dirty="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CDB5685E-92A4-0216-4DC3-C70B91A3569A}"/>
              </a:ext>
            </a:extLst>
          </p:cNvPr>
          <p:cNvSpPr>
            <a:spLocks noGrp="1"/>
          </p:cNvSpPr>
          <p:nvPr>
            <p:ph idx="1"/>
          </p:nvPr>
        </p:nvSpPr>
        <p:spPr>
          <a:xfrm>
            <a:off x="6297233" y="518400"/>
            <a:ext cx="4771607" cy="5837949"/>
          </a:xfrm>
        </p:spPr>
        <p:txBody>
          <a:bodyPr anchor="ctr">
            <a:normAutofit/>
          </a:bodyPr>
          <a:lstStyle/>
          <a:p>
            <a:endParaRPr lang="en-150"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519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14D47AAA-DFAB-D288-2A58-8A30C2923011}"/>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7400" kern="1200" dirty="0">
                <a:solidFill>
                  <a:srgbClr val="FFFFFF"/>
                </a:solidFill>
                <a:latin typeface="+mj-lt"/>
                <a:ea typeface="+mj-ea"/>
                <a:cs typeface="+mj-cs"/>
              </a:rPr>
              <a:t>Hypothesis</a:t>
            </a:r>
            <a:r>
              <a:rPr lang="en-US" sz="7400" dirty="0">
                <a:solidFill>
                  <a:srgbClr val="FFFFFF"/>
                </a:solidFill>
              </a:rPr>
              <a:t> &amp; </a:t>
            </a:r>
            <a:r>
              <a:rPr lang="en-US" sz="7400" kern="1200" dirty="0">
                <a:solidFill>
                  <a:srgbClr val="FFFFFF"/>
                </a:solidFill>
                <a:latin typeface="+mj-lt"/>
                <a:ea typeface="+mj-ea"/>
                <a:cs typeface="+mj-cs"/>
              </a:rPr>
              <a:t>Preliminary results</a:t>
            </a:r>
          </a:p>
        </p:txBody>
      </p:sp>
      <p:sp>
        <p:nvSpPr>
          <p:cNvPr id="4" name="Rectangle 1">
            <a:extLst>
              <a:ext uri="{FF2B5EF4-FFF2-40B4-BE49-F238E27FC236}">
                <a16:creationId xmlns:a16="http://schemas.microsoft.com/office/drawing/2014/main" id="{59C82219-9D29-F7EB-CAE3-9A435CD6B3B1}"/>
              </a:ext>
            </a:extLst>
          </p:cNvPr>
          <p:cNvSpPr>
            <a:spLocks noGrp="1" noChangeArrowheads="1"/>
          </p:cNvSpPr>
          <p:nvPr>
            <p:ph idx="1"/>
          </p:nvPr>
        </p:nvSpPr>
        <p:spPr bwMode="auto">
          <a:xfrm>
            <a:off x="1208228" y="3912124"/>
            <a:ext cx="9198747" cy="25648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fontAlgn="base">
              <a:spcAft>
                <a:spcPct val="0"/>
              </a:spcAft>
              <a:buClrTx/>
              <a:buSzTx/>
              <a:buNone/>
              <a:tabLst/>
            </a:pPr>
            <a:r>
              <a:rPr kumimoji="0" lang="en-US" altLang="en-150" sz="2000" b="0" i="0" u="none" strike="noStrike" kern="1200" cap="none" normalizeH="0" baseline="0" dirty="0">
                <a:ln>
                  <a:noFill/>
                </a:ln>
                <a:solidFill>
                  <a:srgbClr val="FFFFFF"/>
                </a:solidFill>
                <a:effectLst/>
                <a:latin typeface="+mn-lt"/>
                <a:ea typeface="+mn-ea"/>
                <a:cs typeface="+mn-cs"/>
              </a:rPr>
              <a:t>Hypotheses : “</a:t>
            </a:r>
            <a:r>
              <a:rPr kumimoji="0" lang="en-GB" altLang="en-150" sz="2000" b="0" i="1" u="none" strike="noStrike" kern="1200" cap="none" normalizeH="0" baseline="0" dirty="0">
                <a:ln>
                  <a:noFill/>
                </a:ln>
                <a:solidFill>
                  <a:srgbClr val="FFFFFF"/>
                </a:solidFill>
                <a:effectLst/>
                <a:latin typeface="+mn-lt"/>
                <a:ea typeface="+mn-ea"/>
                <a:cs typeface="+mn-cs"/>
              </a:rPr>
              <a:t>Banks with large market capitalization and significant global exposure exhibit a negative sensitivity to geopolitical stress. During periods where geopolitical risk drives capital into defensive sectors (Energy and Defence), these large institutions will experience equity devaluations exceeding those predicted by the broad market beta </a:t>
            </a:r>
            <a:r>
              <a:rPr kumimoji="0" lang="en-GB" altLang="en-150" sz="2000" b="0" i="0" u="none" strike="noStrike" kern="1200" cap="none" normalizeH="0" baseline="0" dirty="0">
                <a:ln>
                  <a:noFill/>
                </a:ln>
                <a:solidFill>
                  <a:srgbClr val="FFFFFF"/>
                </a:solidFill>
                <a:effectLst/>
                <a:latin typeface="+mn-lt"/>
                <a:ea typeface="+mn-ea"/>
                <a:cs typeface="+mn-cs"/>
              </a:rPr>
              <a:t>“</a:t>
            </a:r>
            <a:endParaRPr kumimoji="0" lang="en-US" altLang="en-150" sz="2000" b="0" i="0" u="none" strike="noStrike" kern="1200" cap="none" normalizeH="0" baseline="0" dirty="0">
              <a:ln>
                <a:noFill/>
              </a:ln>
              <a:solidFill>
                <a:srgbClr val="FFFFFF"/>
              </a:solidFill>
              <a:effectLst/>
              <a:latin typeface="+mn-lt"/>
              <a:ea typeface="+mn-ea"/>
              <a:cs typeface="+mn-cs"/>
            </a:endParaRPr>
          </a:p>
          <a:p>
            <a:pPr marR="0" lvl="0" fontAlgn="base">
              <a:spcAft>
                <a:spcPct val="0"/>
              </a:spcAft>
              <a:buClrTx/>
              <a:buSzTx/>
              <a:buFont typeface="Wingdings" panose="05000000000000000000" pitchFamily="2" charset="2"/>
              <a:buChar char="Ø"/>
              <a:tabLst/>
            </a:pPr>
            <a:r>
              <a:rPr kumimoji="0" lang="en-US" altLang="en-150" sz="2000" b="0" i="0" u="none" strike="noStrike" kern="1200" cap="none" normalizeH="0" baseline="0" dirty="0">
                <a:ln>
                  <a:noFill/>
                </a:ln>
                <a:solidFill>
                  <a:srgbClr val="FFFFFF"/>
                </a:solidFill>
                <a:effectLst/>
                <a:latin typeface="+mn-lt"/>
                <a:ea typeface="+mn-ea"/>
                <a:cs typeface="+mn-cs"/>
              </a:rPr>
              <a:t>Negative Geopolitical Sensitivity</a:t>
            </a:r>
          </a:p>
        </p:txBody>
      </p:sp>
      <p:sp>
        <p:nvSpPr>
          <p:cNvPr id="36"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38"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40"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42" name="Straight Connector 41">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4"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46"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48"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4025804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C1C5-BF37-61C5-DFCF-BAC4609347A7}"/>
              </a:ext>
            </a:extLst>
          </p:cNvPr>
          <p:cNvSpPr>
            <a:spLocks noGrp="1"/>
          </p:cNvSpPr>
          <p:nvPr>
            <p:ph type="title"/>
          </p:nvPr>
        </p:nvSpPr>
        <p:spPr/>
        <p:txBody>
          <a:bodyPr/>
          <a:lstStyle/>
          <a:p>
            <a:r>
              <a:rPr lang="en-US" b="1" dirty="0"/>
              <a:t>Future Work</a:t>
            </a:r>
            <a:endParaRPr lang="en-150" dirty="0"/>
          </a:p>
        </p:txBody>
      </p:sp>
      <p:sp>
        <p:nvSpPr>
          <p:cNvPr id="3" name="Content Placeholder 2">
            <a:extLst>
              <a:ext uri="{FF2B5EF4-FFF2-40B4-BE49-F238E27FC236}">
                <a16:creationId xmlns:a16="http://schemas.microsoft.com/office/drawing/2014/main" id="{FEBDDCBA-09EB-9340-DDBF-F44EF9FB1D8D}"/>
              </a:ext>
            </a:extLst>
          </p:cNvPr>
          <p:cNvSpPr>
            <a:spLocks noGrp="1"/>
          </p:cNvSpPr>
          <p:nvPr>
            <p:ph idx="1"/>
          </p:nvPr>
        </p:nvSpPr>
        <p:spPr/>
        <p:txBody>
          <a:bodyPr/>
          <a:lstStyle/>
          <a:p>
            <a:endParaRPr lang="en-150" dirty="0"/>
          </a:p>
        </p:txBody>
      </p:sp>
    </p:spTree>
    <p:extLst>
      <p:ext uri="{BB962C8B-B14F-4D97-AF65-F5344CB8AC3E}">
        <p14:creationId xmlns:p14="http://schemas.microsoft.com/office/powerpoint/2010/main" val="4136510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147</Words>
  <Application>Microsoft Office PowerPoint</Application>
  <PresentationFormat>Widescreen</PresentationFormat>
  <Paragraphs>17</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Wingdings</vt:lpstr>
      <vt:lpstr>Office Theme</vt:lpstr>
      <vt:lpstr>Stress Testing Banks’ Exposure to Geopolitical Risk</vt:lpstr>
      <vt:lpstr>Motivation</vt:lpstr>
      <vt:lpstr>Social Welfare and Systemic fragility </vt:lpstr>
      <vt:lpstr>Three mega risks : climate change, information technologies, geopolitical risk </vt:lpstr>
      <vt:lpstr>  Sovereign bank nexus </vt:lpstr>
      <vt:lpstr>Literature Gap</vt:lpstr>
      <vt:lpstr>Methodology &amp; Data</vt:lpstr>
      <vt:lpstr>Hypothesis &amp; Preliminary results</vt:lpstr>
      <vt:lpstr>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Lepla, C.T.H. (Corentin)</dc:creator>
  <cp:lastModifiedBy>Lepla, C.T.H. (Corentin)</cp:lastModifiedBy>
  <cp:revision>3</cp:revision>
  <dcterms:created xsi:type="dcterms:W3CDTF">2026-01-12T09:27:38Z</dcterms:created>
  <dcterms:modified xsi:type="dcterms:W3CDTF">2026-01-12T12:54:44Z</dcterms:modified>
</cp:coreProperties>
</file>